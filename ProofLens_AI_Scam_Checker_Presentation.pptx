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823960" y="914400"/>
            <a:ext cx="1097280" cy="1097280"/>
          </a:xfrm>
          <a:prstGeom prst="ellipse">
            <a:avLst/>
          </a:prstGeom>
          <a:solidFill>
            <a:srgbClr val="2BD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84080" y="1828800"/>
            <a:ext cx="731520" cy="731520"/>
          </a:xfrm>
          <a:prstGeom prst="ellipse">
            <a:avLst/>
          </a:prstGeom>
          <a:solidFill>
            <a:srgbClr val="FF6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12480" y="2743200"/>
            <a:ext cx="502920" cy="502920"/>
          </a:xfrm>
          <a:prstGeom prst="ellipse">
            <a:avLst/>
          </a:prstGeom>
          <a:solidFill>
            <a:srgbClr val="55D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3657600"/>
            <a:ext cx="914400" cy="914400"/>
          </a:xfrm>
          <a:prstGeom prst="ellipse">
            <a:avLst/>
          </a:prstGeom>
          <a:solidFill>
            <a:srgbClr val="FF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71323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1">
                <a:solidFill>
                  <a:srgbClr val="2BD4BE"/>
                </a:solidFill>
                <a:latin typeface="Aptos"/>
              </a:defRPr>
            </a:pPr>
            <a:r>
              <a:t>AI-POWERED DIGITAL SAFETY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65960"/>
            <a:ext cx="7680960" cy="10972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4800" b="1">
                <a:solidFill>
                  <a:srgbClr val="F5F8FF"/>
                </a:solidFill>
                <a:latin typeface="Aptos"/>
              </a:defRPr>
            </a:pPr>
            <a:r>
              <a:t>ProofLens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63240"/>
            <a:ext cx="722376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3000" b="1">
                <a:solidFill>
                  <a:srgbClr val="2BD4BE"/>
                </a:solidFill>
                <a:latin typeface="Aptos"/>
              </a:defRPr>
            </a:pPr>
            <a:r>
              <a:t>AI Scam Checker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3886200"/>
            <a:ext cx="6766560" cy="8229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000" b="0">
                <a:solidFill>
                  <a:srgbClr val="B4C1D6"/>
                </a:solidFill>
                <a:latin typeface="Aptos"/>
              </a:defRPr>
            </a:pPr>
            <a:r>
              <a:t>Helping users recognize suspicious messages,</a:t>
            </a:r>
            <a:br/>
            <a:r>
              <a:t>links, and scam patterns.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6080760"/>
            <a:ext cx="59436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B4C1D6"/>
                </a:solidFill>
                <a:latin typeface="Aptos"/>
              </a:defRPr>
            </a:pPr>
            <a:r>
              <a:t>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3000" b="1">
                <a:solidFill>
                  <a:srgbClr val="F5F8FF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69848"/>
            <a:ext cx="1051560" cy="50292"/>
          </a:xfrm>
          <a:prstGeom prst="rect">
            <a:avLst/>
          </a:prstGeom>
          <a:solidFill>
            <a:srgbClr val="2BD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69848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300" b="0">
                <a:solidFill>
                  <a:srgbClr val="B4C1D6"/>
                </a:solidFill>
                <a:latin typeface="Aptos"/>
              </a:defRPr>
            </a:pPr>
            <a:r>
              <a:t>A simple tool to help people assess suspicious digital communication.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00" b="0">
                <a:solidFill>
                  <a:srgbClr val="B4C1D6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3474720" cy="2560320"/>
          </a:xfrm>
          <a:prstGeom prst="roundRect">
            <a:avLst/>
          </a:prstGeom>
          <a:solidFill>
            <a:srgbClr val="192640"/>
          </a:solidFill>
          <a:ln>
            <a:solidFill>
              <a:srgbClr val="2D4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039112"/>
            <a:ext cx="3072384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2BD4BE"/>
                </a:solidFill>
                <a:latin typeface="Aptos"/>
              </a:defRPr>
            </a:pPr>
            <a:r>
              <a:t>What is ProofLens?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96312"/>
            <a:ext cx="3072384" cy="18105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400" b="0">
                <a:solidFill>
                  <a:srgbClr val="F5F8FF"/>
                </a:solidFill>
                <a:latin typeface="Aptos"/>
              </a:defRPr>
            </a:pPr>
            <a:r>
              <a:t>A scam-checking application that reviews message content for common warning signs.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74519"/>
            <a:ext cx="3474720" cy="2560320"/>
          </a:xfrm>
          <a:prstGeom prst="roundRect">
            <a:avLst/>
          </a:prstGeom>
          <a:solidFill>
            <a:srgbClr val="192640"/>
          </a:solidFill>
          <a:ln>
            <a:solidFill>
              <a:srgbClr val="2D4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2039112"/>
            <a:ext cx="3072384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FFC759"/>
                </a:solidFill>
                <a:latin typeface="Aptos"/>
              </a:defRPr>
            </a:pPr>
            <a:r>
              <a:t>Who can use it?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2496312"/>
            <a:ext cx="3072384" cy="18105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400" b="0">
                <a:solidFill>
                  <a:srgbClr val="F5F8FF"/>
                </a:solidFill>
                <a:latin typeface="Aptos"/>
              </a:defRPr>
            </a:pPr>
            <a:r>
              <a:t>People who receive unexpected bank calls, prize links, or job offers.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874519"/>
            <a:ext cx="3474720" cy="2560320"/>
          </a:xfrm>
          <a:prstGeom prst="roundRect">
            <a:avLst/>
          </a:prstGeom>
          <a:solidFill>
            <a:srgbClr val="192640"/>
          </a:solidFill>
          <a:ln>
            <a:solidFill>
              <a:srgbClr val="2D4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7888" y="2039112"/>
            <a:ext cx="3072384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55DC9B"/>
                </a:solidFill>
                <a:latin typeface="Aptos"/>
              </a:defRPr>
            </a:pPr>
            <a:r>
              <a:t>What does it show?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2496312"/>
            <a:ext cx="3072384" cy="18105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400" b="0">
                <a:solidFill>
                  <a:srgbClr val="F5F8FF"/>
                </a:solidFill>
                <a:latin typeface="Aptos"/>
              </a:defRPr>
            </a:pPr>
            <a:r>
              <a:t>A risk level, detected indicators, and a clear explanation in simple language.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983480"/>
            <a:ext cx="10607040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100" b="1">
                <a:solidFill>
                  <a:srgbClr val="F5F8FF"/>
                </a:solidFill>
                <a:latin typeface="Aptos"/>
              </a:defRPr>
            </a:pPr>
            <a:r>
              <a:t>Goal: make scam warning signs easier to understand before users take action.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3000" b="1">
                <a:solidFill>
                  <a:srgbClr val="F5F8FF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69848"/>
            <a:ext cx="1051560" cy="50292"/>
          </a:xfrm>
          <a:prstGeom prst="rect">
            <a:avLst/>
          </a:prstGeom>
          <a:solidFill>
            <a:srgbClr val="2BD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69848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300" b="0">
                <a:solidFill>
                  <a:srgbClr val="B4C1D6"/>
                </a:solidFill>
                <a:latin typeface="Aptos"/>
              </a:defRPr>
            </a:pPr>
            <a:r>
              <a:t>Online scams often rely on urgency, impersonation, and tempting offers.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00" b="0">
                <a:solidFill>
                  <a:srgbClr val="B4C1D6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474720" cy="2834640"/>
          </a:xfrm>
          <a:prstGeom prst="roundRect">
            <a:avLst/>
          </a:prstGeom>
          <a:solidFill>
            <a:srgbClr val="192640"/>
          </a:solidFill>
          <a:ln>
            <a:solidFill>
              <a:srgbClr val="2D4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3072384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FF6969"/>
                </a:solidFill>
                <a:latin typeface="Aptos"/>
              </a:defRPr>
            </a:pPr>
            <a:r>
              <a:t>Bank Impersonation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50592"/>
            <a:ext cx="3072384" cy="20848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400" b="0">
                <a:solidFill>
                  <a:srgbClr val="F5F8FF"/>
                </a:solidFill>
                <a:latin typeface="Aptos"/>
              </a:defRPr>
            </a:pPr>
            <a:r>
              <a:t>A caller claims to be from a bank and asks for an OTP or sensitive information.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474720" cy="2834640"/>
          </a:xfrm>
          <a:prstGeom prst="roundRect">
            <a:avLst/>
          </a:prstGeom>
          <a:solidFill>
            <a:srgbClr val="192640"/>
          </a:solidFill>
          <a:ln>
            <a:solidFill>
              <a:srgbClr val="2D4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1993392"/>
            <a:ext cx="3072384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FFC759"/>
                </a:solidFill>
                <a:latin typeface="Aptos"/>
              </a:defRPr>
            </a:pPr>
            <a:r>
              <a:t>Fake Prize Links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2450592"/>
            <a:ext cx="3072384" cy="20848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400" b="0">
                <a:solidFill>
                  <a:srgbClr val="F5F8FF"/>
                </a:solidFill>
                <a:latin typeface="Aptos"/>
              </a:defRPr>
            </a:pPr>
            <a:r>
              <a:t>A message promises a prize and urges the user to click an unfamiliar link.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828800"/>
            <a:ext cx="3474720" cy="2834640"/>
          </a:xfrm>
          <a:prstGeom prst="roundRect">
            <a:avLst/>
          </a:prstGeom>
          <a:solidFill>
            <a:srgbClr val="192640"/>
          </a:solidFill>
          <a:ln>
            <a:solidFill>
              <a:srgbClr val="2D4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7888" y="1993392"/>
            <a:ext cx="3072384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FF6969"/>
                </a:solidFill>
                <a:latin typeface="Aptos"/>
              </a:defRPr>
            </a:pPr>
            <a:r>
              <a:t>Fake Job Offers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2450592"/>
            <a:ext cx="3072384" cy="20848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400" b="0">
                <a:solidFill>
                  <a:srgbClr val="F5F8FF"/>
                </a:solidFill>
                <a:latin typeface="Aptos"/>
              </a:defRPr>
            </a:pPr>
            <a:r>
              <a:t>A recruiter asks for a registration fee or advance payment to secure a job.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212080"/>
            <a:ext cx="10607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900" b="0">
                <a:solidFill>
                  <a:srgbClr val="B4C1D6"/>
                </a:solidFill>
                <a:latin typeface="Aptos"/>
              </a:defRPr>
            </a:pPr>
            <a:r>
              <a:t>Challenge: users may not know which details are warning signs.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3000" b="1">
                <a:solidFill>
                  <a:srgbClr val="F5F8FF"/>
                </a:solidFill>
                <a:latin typeface="Aptos"/>
              </a:defRPr>
            </a:pPr>
            <a:r>
              <a:t>Project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69848"/>
            <a:ext cx="1051560" cy="50292"/>
          </a:xfrm>
          <a:prstGeom prst="rect">
            <a:avLst/>
          </a:prstGeom>
          <a:solidFill>
            <a:srgbClr val="2BD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69848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300" b="0">
                <a:solidFill>
                  <a:srgbClr val="B4C1D6"/>
                </a:solidFill>
                <a:latin typeface="Aptos"/>
              </a:defRPr>
            </a:pPr>
            <a:r>
              <a:t>ProofLens focuses on awareness and risk indicators—not absolute guarantees.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00" b="0">
                <a:solidFill>
                  <a:srgbClr val="B4C1D6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42062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700"/>
              </a:spcAft>
              <a:defRPr sz="2000">
                <a:solidFill>
                  <a:srgbClr val="F5F8FF"/>
                </a:solidFill>
                <a:latin typeface="Aptos"/>
              </a:defRPr>
            </a:pPr>
            <a:r>
              <a:t>Analyze pasted messages and suspicious URLs for common scam patterns.</a:t>
            </a:r>
          </a:p>
          <a:p>
            <a:pPr>
              <a:spcAft>
                <a:spcPts val="1700"/>
              </a:spcAft>
              <a:defRPr sz="2000">
                <a:solidFill>
                  <a:srgbClr val="F5F8FF"/>
                </a:solidFill>
                <a:latin typeface="Aptos"/>
              </a:defRPr>
            </a:pPr>
            <a:r>
              <a:t>Highlight indicators such as OTP requests, urgency, unrealistic rewards, and advance fees.</a:t>
            </a:r>
          </a:p>
          <a:p>
            <a:pPr>
              <a:spcAft>
                <a:spcPts val="1700"/>
              </a:spcAft>
              <a:defRPr sz="2000">
                <a:solidFill>
                  <a:srgbClr val="F5F8FF"/>
                </a:solidFill>
                <a:latin typeface="Aptos"/>
              </a:defRPr>
            </a:pPr>
            <a:r>
              <a:t>Explain why each indicator may be risky using simple English and Tamil.</a:t>
            </a:r>
          </a:p>
          <a:p>
            <a:pPr>
              <a:spcAft>
                <a:spcPts val="1700"/>
              </a:spcAft>
              <a:defRPr sz="2000">
                <a:solidFill>
                  <a:srgbClr val="F5F8FF"/>
                </a:solidFill>
                <a:latin typeface="Aptos"/>
              </a:defRPr>
            </a:pPr>
            <a:r>
              <a:t>Present a clear risk label and practical safety advice.</a:t>
            </a:r>
          </a:p>
          <a:p>
            <a:pPr>
              <a:spcAft>
                <a:spcPts val="1700"/>
              </a:spcAft>
              <a:defRPr sz="2000">
                <a:solidFill>
                  <a:srgbClr val="F5F8FF"/>
                </a:solidFill>
                <a:latin typeface="Aptos"/>
              </a:defRPr>
            </a:pPr>
            <a:r>
              <a:t>Encourage users to verify claims through official channels.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3000" b="1">
                <a:solidFill>
                  <a:srgbClr val="F5F8FF"/>
                </a:solidFill>
                <a:latin typeface="Aptos"/>
              </a:defRPr>
            </a:pPr>
            <a:r>
              <a:t>How It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69848"/>
            <a:ext cx="1051560" cy="50292"/>
          </a:xfrm>
          <a:prstGeom prst="rect">
            <a:avLst/>
          </a:prstGeom>
          <a:solidFill>
            <a:srgbClr val="2BD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69848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300" b="0">
                <a:solidFill>
                  <a:srgbClr val="B4C1D6"/>
                </a:solidFill>
                <a:latin typeface="Aptos"/>
              </a:defRPr>
            </a:pPr>
            <a:r>
              <a:t>A simple user flow for the first prototype.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00" b="0">
                <a:solidFill>
                  <a:srgbClr val="B4C1D6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148840"/>
            <a:ext cx="2606040" cy="2286000"/>
          </a:xfrm>
          <a:prstGeom prst="roundRect">
            <a:avLst/>
          </a:prstGeom>
          <a:solidFill>
            <a:srgbClr val="192640"/>
          </a:solidFill>
          <a:ln>
            <a:solidFill>
              <a:srgbClr val="2D4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2313432"/>
            <a:ext cx="2203704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2BD4BE"/>
                </a:solidFill>
                <a:latin typeface="Aptos"/>
              </a:defRPr>
            </a:pPr>
            <a:r>
              <a:t>01  Choose category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770632"/>
            <a:ext cx="2203704" cy="15361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400" b="0">
                <a:solidFill>
                  <a:srgbClr val="F5F8FF"/>
                </a:solidFill>
                <a:latin typeface="Aptos"/>
              </a:defRPr>
            </a:pPr>
            <a:r>
              <a:t>Bank scam, suspicious link, or job scam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999232"/>
            <a:ext cx="32004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2500" b="1">
                <a:solidFill>
                  <a:srgbClr val="2BD4B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2148840"/>
            <a:ext cx="2606040" cy="2286000"/>
          </a:xfrm>
          <a:prstGeom prst="roundRect">
            <a:avLst/>
          </a:prstGeom>
          <a:solidFill>
            <a:srgbClr val="192640"/>
          </a:solidFill>
          <a:ln>
            <a:solidFill>
              <a:srgbClr val="2D4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21608" y="2313432"/>
            <a:ext cx="2203704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55DC9B"/>
                </a:solidFill>
                <a:latin typeface="Aptos"/>
              </a:defRPr>
            </a:pPr>
            <a:r>
              <a:t>02  Enter content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21608" y="2770632"/>
            <a:ext cx="2203704" cy="15361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400" b="0">
                <a:solidFill>
                  <a:srgbClr val="F5F8FF"/>
                </a:solidFill>
                <a:latin typeface="Aptos"/>
              </a:defRPr>
            </a:pPr>
            <a:r>
              <a:t>Paste the message or URL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999232"/>
            <a:ext cx="32004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2500" b="1">
                <a:solidFill>
                  <a:srgbClr val="2BD4B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2148840"/>
            <a:ext cx="2606040" cy="2286000"/>
          </a:xfrm>
          <a:prstGeom prst="roundRect">
            <a:avLst/>
          </a:prstGeom>
          <a:solidFill>
            <a:srgbClr val="192640"/>
          </a:solidFill>
          <a:ln>
            <a:solidFill>
              <a:srgbClr val="2D4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47688" y="2313432"/>
            <a:ext cx="2203704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2BD4BE"/>
                </a:solidFill>
                <a:latin typeface="Aptos"/>
              </a:defRPr>
            </a:pPr>
            <a:r>
              <a:t>03  Analyze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7688" y="2770632"/>
            <a:ext cx="2203704" cy="15361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400" b="0">
                <a:solidFill>
                  <a:srgbClr val="F5F8FF"/>
                </a:solidFill>
                <a:latin typeface="Aptos"/>
              </a:defRPr>
            </a:pPr>
            <a:r>
              <a:t>Rules or an AI/NLP service checks indicators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2999232"/>
            <a:ext cx="32004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2500" b="1">
                <a:solidFill>
                  <a:srgbClr val="2BD4B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72600" y="2148840"/>
            <a:ext cx="2606040" cy="2286000"/>
          </a:xfrm>
          <a:prstGeom prst="roundRect">
            <a:avLst/>
          </a:prstGeom>
          <a:solidFill>
            <a:srgbClr val="192640"/>
          </a:solidFill>
          <a:ln>
            <a:solidFill>
              <a:srgbClr val="2D4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73768" y="2313432"/>
            <a:ext cx="2203704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55DC9B"/>
                </a:solidFill>
                <a:latin typeface="Aptos"/>
              </a:defRPr>
            </a:pPr>
            <a:r>
              <a:t>04  View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73768" y="2770632"/>
            <a:ext cx="2203704" cy="15361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400" b="0">
                <a:solidFill>
                  <a:srgbClr val="F5F8FF"/>
                </a:solidFill>
                <a:latin typeface="Aptos"/>
              </a:defRPr>
            </a:pPr>
            <a:r>
              <a:t>Risk level, reasons, and safety tips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074920"/>
            <a:ext cx="1051560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900" b="1">
                <a:solidFill>
                  <a:srgbClr val="FFC759"/>
                </a:solidFill>
                <a:latin typeface="Aptos"/>
              </a:defRPr>
            </a:pPr>
            <a:r>
              <a:t>Output example: “High Risk — OTP request and urgent threat detected.”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3000" b="1">
                <a:solidFill>
                  <a:srgbClr val="F5F8FF"/>
                </a:solidFill>
                <a:latin typeface="Aptos"/>
              </a:defRPr>
            </a:pPr>
            <a:r>
              <a:t>Three Core Scam Categories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69848"/>
            <a:ext cx="1051560" cy="50292"/>
          </a:xfrm>
          <a:prstGeom prst="rect">
            <a:avLst/>
          </a:prstGeom>
          <a:solidFill>
            <a:srgbClr val="2BD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69848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300" b="0">
                <a:solidFill>
                  <a:srgbClr val="B4C1D6"/>
                </a:solidFill>
                <a:latin typeface="Aptos"/>
              </a:defRPr>
            </a:pPr>
            <a:r>
              <a:t>Each category checks for relevant warning signs.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00" b="0">
                <a:solidFill>
                  <a:srgbClr val="B4C1D6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474720" cy="3291840"/>
          </a:xfrm>
          <a:prstGeom prst="roundRect">
            <a:avLst/>
          </a:prstGeom>
          <a:solidFill>
            <a:srgbClr val="192640"/>
          </a:solidFill>
          <a:ln>
            <a:solidFill>
              <a:srgbClr val="2D4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3072384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FF6969"/>
                </a:solidFill>
                <a:latin typeface="Aptos"/>
              </a:defRPr>
            </a:pPr>
            <a:r>
              <a:t>01 · Bank Call Scam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50592"/>
            <a:ext cx="3072384" cy="2542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400" b="0">
                <a:solidFill>
                  <a:srgbClr val="F5F8FF"/>
                </a:solidFill>
                <a:latin typeface="Aptos"/>
              </a:defRPr>
            </a:pPr>
            <a:r>
              <a:t>Example: “Your account will be blocked. Tell me your OTP.”</a:t>
            </a:r>
            <a:br/>
            <a:br/>
            <a:r>
              <a:t>Indicator: request for an OTP or confidential banking details.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474720" cy="3291840"/>
          </a:xfrm>
          <a:prstGeom prst="roundRect">
            <a:avLst/>
          </a:prstGeom>
          <a:solidFill>
            <a:srgbClr val="192640"/>
          </a:solidFill>
          <a:ln>
            <a:solidFill>
              <a:srgbClr val="2D4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1993392"/>
            <a:ext cx="3072384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FFC759"/>
                </a:solidFill>
                <a:latin typeface="Aptos"/>
              </a:defRPr>
            </a:pPr>
            <a:r>
              <a:t>02 · Message / Link Scam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2450592"/>
            <a:ext cx="3072384" cy="2542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400" b="0">
                <a:solidFill>
                  <a:srgbClr val="F5F8FF"/>
                </a:solidFill>
                <a:latin typeface="Aptos"/>
              </a:defRPr>
            </a:pPr>
            <a:r>
              <a:t>Example: “You won ₹50,000. Click this link.”</a:t>
            </a:r>
            <a:br/>
            <a:br/>
            <a:r>
              <a:t>Indicators: unexpected prize, pressure to click, unfamiliar URL.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828800"/>
            <a:ext cx="3474720" cy="3291840"/>
          </a:xfrm>
          <a:prstGeom prst="roundRect">
            <a:avLst/>
          </a:prstGeom>
          <a:solidFill>
            <a:srgbClr val="192640"/>
          </a:solidFill>
          <a:ln>
            <a:solidFill>
              <a:srgbClr val="2D4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7888" y="1993392"/>
            <a:ext cx="3072384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FF6969"/>
                </a:solidFill>
                <a:latin typeface="Aptos"/>
              </a:defRPr>
            </a:pPr>
            <a:r>
              <a:t>03 · Fake Job Scam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2450592"/>
            <a:ext cx="3072384" cy="2542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400" b="0">
                <a:solidFill>
                  <a:srgbClr val="F5F8FF"/>
                </a:solidFill>
                <a:latin typeface="Aptos"/>
              </a:defRPr>
            </a:pPr>
            <a:r>
              <a:t>Example: “Pay ₹2,000 to confirm your job.”</a:t>
            </a:r>
            <a:br/>
            <a:br/>
            <a:r>
              <a:t>Indicator: upfront payment requested for a job opportunity.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3000" b="1">
                <a:solidFill>
                  <a:srgbClr val="F5F8FF"/>
                </a:solidFill>
                <a:latin typeface="Aptos"/>
              </a:defRPr>
            </a:pPr>
            <a:r>
              <a:t>Detection Logic and AI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69848"/>
            <a:ext cx="1051560" cy="50292"/>
          </a:xfrm>
          <a:prstGeom prst="rect">
            <a:avLst/>
          </a:prstGeom>
          <a:solidFill>
            <a:srgbClr val="2BD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69848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300" b="0">
                <a:solidFill>
                  <a:srgbClr val="B4C1D6"/>
                </a:solidFill>
                <a:latin typeface="Aptos"/>
              </a:defRPr>
            </a:pPr>
            <a:r>
              <a:t>The prototype can begin with transparent rules and later add an AI/NLP model.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00" b="0">
                <a:solidFill>
                  <a:srgbClr val="B4C1D6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474720" cy="3200400"/>
          </a:xfrm>
          <a:prstGeom prst="roundRect">
            <a:avLst/>
          </a:prstGeom>
          <a:solidFill>
            <a:srgbClr val="192640"/>
          </a:solidFill>
          <a:ln>
            <a:solidFill>
              <a:srgbClr val="2D4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3072384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2BD4BE"/>
                </a:solidFill>
                <a:latin typeface="Aptos"/>
              </a:defRPr>
            </a:pPr>
            <a:r>
              <a:t>Rule-Based Checks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50592"/>
            <a:ext cx="3072384" cy="2450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400" b="0">
                <a:solidFill>
                  <a:srgbClr val="F5F8FF"/>
                </a:solidFill>
                <a:latin typeface="Aptos"/>
              </a:defRPr>
            </a:pPr>
            <a:r>
              <a:t>Search for phrases linked to urgency, OTP requests, prize claims, suspicious URLs, and advance fees.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474720" cy="3200400"/>
          </a:xfrm>
          <a:prstGeom prst="roundRect">
            <a:avLst/>
          </a:prstGeom>
          <a:solidFill>
            <a:srgbClr val="192640"/>
          </a:solidFill>
          <a:ln>
            <a:solidFill>
              <a:srgbClr val="2D4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1993392"/>
            <a:ext cx="3072384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FFC759"/>
                </a:solidFill>
                <a:latin typeface="Aptos"/>
              </a:defRPr>
            </a:pPr>
            <a:r>
              <a:t>AI / NLP (Optional)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2450592"/>
            <a:ext cx="3072384" cy="2450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400" b="0">
                <a:solidFill>
                  <a:srgbClr val="F5F8FF"/>
                </a:solidFill>
                <a:latin typeface="Aptos"/>
              </a:defRPr>
            </a:pPr>
            <a:r>
              <a:t>A connected model can classify message context and explain likely warning signs. Results depend on model quality.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828800"/>
            <a:ext cx="3474720" cy="3200400"/>
          </a:xfrm>
          <a:prstGeom prst="roundRect">
            <a:avLst/>
          </a:prstGeom>
          <a:solidFill>
            <a:srgbClr val="192640"/>
          </a:solidFill>
          <a:ln>
            <a:solidFill>
              <a:srgbClr val="2D4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7888" y="1993392"/>
            <a:ext cx="3072384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55DC9B"/>
                </a:solidFill>
                <a:latin typeface="Aptos"/>
              </a:defRPr>
            </a:pPr>
            <a:r>
              <a:t>Result Explanation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2450592"/>
            <a:ext cx="3072384" cy="2450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400" b="0">
                <a:solidFill>
                  <a:srgbClr val="F5F8FF"/>
                </a:solidFill>
                <a:latin typeface="Aptos"/>
              </a:defRPr>
            </a:pPr>
            <a:r>
              <a:t>Show detected indicators, a risk level, and next steps instead of only saying “scam” or “safe.”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486400"/>
            <a:ext cx="1051560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1">
                <a:solidFill>
                  <a:srgbClr val="B4C1D6"/>
                </a:solidFill>
                <a:latin typeface="Aptos"/>
              </a:defRPr>
            </a:pPr>
            <a:r>
              <a:t>Important: real analysis requires working detection logic or an integrated model—not just a frontend.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3000" b="1">
                <a:solidFill>
                  <a:srgbClr val="F5F8FF"/>
                </a:solidFill>
                <a:latin typeface="Aptos"/>
              </a:defRPr>
            </a:pPr>
            <a:r>
              <a:t>Frontend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69848"/>
            <a:ext cx="1051560" cy="50292"/>
          </a:xfrm>
          <a:prstGeom prst="rect">
            <a:avLst/>
          </a:prstGeom>
          <a:solidFill>
            <a:srgbClr val="2BD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69848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300" b="0">
                <a:solidFill>
                  <a:srgbClr val="B4C1D6"/>
                </a:solidFill>
                <a:latin typeface="Aptos"/>
              </a:defRPr>
            </a:pPr>
            <a:r>
              <a:t>A beginner-friendly React interface.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00" b="0">
                <a:solidFill>
                  <a:srgbClr val="B4C1D6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474720" cy="3200400"/>
          </a:xfrm>
          <a:prstGeom prst="roundRect">
            <a:avLst/>
          </a:prstGeom>
          <a:solidFill>
            <a:srgbClr val="192640"/>
          </a:solidFill>
          <a:ln>
            <a:solidFill>
              <a:srgbClr val="2D4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3072384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2BD4BE"/>
                </a:solidFill>
                <a:latin typeface="Aptos"/>
              </a:defRPr>
            </a:pPr>
            <a:r>
              <a:t>Home Page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50592"/>
            <a:ext cx="3072384" cy="2450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400" b="0">
                <a:solidFill>
                  <a:srgbClr val="F5F8FF"/>
                </a:solidFill>
                <a:latin typeface="Aptos"/>
              </a:defRPr>
            </a:pPr>
            <a:r>
              <a:t>Introduce ProofLens, its purpose, and safe-use guidance.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474720" cy="3200400"/>
          </a:xfrm>
          <a:prstGeom prst="roundRect">
            <a:avLst/>
          </a:prstGeom>
          <a:solidFill>
            <a:srgbClr val="192640"/>
          </a:solidFill>
          <a:ln>
            <a:solidFill>
              <a:srgbClr val="2D4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1993392"/>
            <a:ext cx="3072384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FFC759"/>
                </a:solidFill>
                <a:latin typeface="Aptos"/>
              </a:defRPr>
            </a:pPr>
            <a:r>
              <a:t>Scam Checker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2450592"/>
            <a:ext cx="3072384" cy="2450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400" b="0">
                <a:solidFill>
                  <a:srgbClr val="F5F8FF"/>
                </a:solidFill>
                <a:latin typeface="Aptos"/>
              </a:defRPr>
            </a:pPr>
            <a:r>
              <a:t>Category selector, message/URL input box, and Analyze button.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828800"/>
            <a:ext cx="3474720" cy="3200400"/>
          </a:xfrm>
          <a:prstGeom prst="roundRect">
            <a:avLst/>
          </a:prstGeom>
          <a:solidFill>
            <a:srgbClr val="192640"/>
          </a:solidFill>
          <a:ln>
            <a:solidFill>
              <a:srgbClr val="2D4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7888" y="1993392"/>
            <a:ext cx="3072384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55DC9B"/>
                </a:solidFill>
                <a:latin typeface="Aptos"/>
              </a:defRPr>
            </a:pPr>
            <a:r>
              <a:t>Result Card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2450592"/>
            <a:ext cx="3072384" cy="2450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400" b="0">
                <a:solidFill>
                  <a:srgbClr val="F5F8FF"/>
                </a:solidFill>
                <a:latin typeface="Aptos"/>
              </a:defRPr>
            </a:pPr>
            <a:r>
              <a:t>Risk label, reasons, English/Tamil explanation, and recommended next steps.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486400"/>
            <a:ext cx="1051560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700" b="0">
                <a:solidFill>
                  <a:srgbClr val="B4C1D6"/>
                </a:solidFill>
                <a:latin typeface="Aptos"/>
              </a:defRPr>
            </a:pPr>
            <a:r>
              <a:t>Use Bootstrap for responsive layouts on desktop and mobile.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3000" b="1">
                <a:solidFill>
                  <a:srgbClr val="F5F8FF"/>
                </a:solidFill>
                <a:latin typeface="Aptos"/>
              </a:defRPr>
            </a:pPr>
            <a:r>
              <a:t>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69848"/>
            <a:ext cx="1051560" cy="50292"/>
          </a:xfrm>
          <a:prstGeom prst="rect">
            <a:avLst/>
          </a:prstGeom>
          <a:solidFill>
            <a:srgbClr val="2BD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69848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300" b="0">
                <a:solidFill>
                  <a:srgbClr val="B4C1D6"/>
                </a:solidFill>
                <a:latin typeface="Aptos"/>
              </a:defRPr>
            </a:pPr>
            <a:r>
              <a:t>Build the interface first, then connect a backend if needed.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00" b="0">
                <a:solidFill>
                  <a:srgbClr val="B4C1D6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10607040" cy="566928"/>
          </a:xfrm>
          <a:prstGeom prst="roundRect">
            <a:avLst/>
          </a:prstGeom>
          <a:solidFill>
            <a:srgbClr val="192640"/>
          </a:solidFill>
          <a:ln>
            <a:solidFill>
              <a:srgbClr val="2D4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29260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1">
                <a:solidFill>
                  <a:srgbClr val="2BD4BE"/>
                </a:solidFill>
                <a:latin typeface="Aptos"/>
              </a:defRPr>
            </a:pPr>
            <a:r>
              <a:t>React.js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920240"/>
            <a:ext cx="68580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F5F8FF"/>
                </a:solidFill>
                <a:latin typeface="Aptos"/>
              </a:defRPr>
            </a:pPr>
            <a:r>
              <a:t>Frontend components and UI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542032"/>
            <a:ext cx="10607040" cy="566928"/>
          </a:xfrm>
          <a:prstGeom prst="roundRect">
            <a:avLst/>
          </a:prstGeom>
          <a:solidFill>
            <a:srgbClr val="192640"/>
          </a:solidFill>
          <a:ln>
            <a:solidFill>
              <a:srgbClr val="2D4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633472"/>
            <a:ext cx="29260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1">
                <a:solidFill>
                  <a:srgbClr val="2BD4BE"/>
                </a:solidFill>
                <a:latin typeface="Aptos"/>
              </a:defRPr>
            </a:pPr>
            <a:r>
              <a:t>Bootstrap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633472"/>
            <a:ext cx="68580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F5F8FF"/>
                </a:solidFill>
                <a:latin typeface="Aptos"/>
              </a:defRPr>
            </a:pPr>
            <a:r>
              <a:t>Responsive styling and layout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255264"/>
            <a:ext cx="10607040" cy="566928"/>
          </a:xfrm>
          <a:prstGeom prst="roundRect">
            <a:avLst/>
          </a:prstGeom>
          <a:solidFill>
            <a:srgbClr val="192640"/>
          </a:solidFill>
          <a:ln>
            <a:solidFill>
              <a:srgbClr val="2D4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346704"/>
            <a:ext cx="29260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1">
                <a:solidFill>
                  <a:srgbClr val="2BD4BE"/>
                </a:solidFill>
                <a:latin typeface="Aptos"/>
              </a:defRPr>
            </a:pPr>
            <a:r>
              <a:t>Node.js + Express.js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3346704"/>
            <a:ext cx="68580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F5F8FF"/>
                </a:solidFill>
                <a:latin typeface="Aptos"/>
              </a:defRPr>
            </a:pPr>
            <a:r>
              <a:t>Backend API for analysis requests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968496"/>
            <a:ext cx="10607040" cy="566928"/>
          </a:xfrm>
          <a:prstGeom prst="roundRect">
            <a:avLst/>
          </a:prstGeom>
          <a:solidFill>
            <a:srgbClr val="192640"/>
          </a:solidFill>
          <a:ln>
            <a:solidFill>
              <a:srgbClr val="2D4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059935"/>
            <a:ext cx="29260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1">
                <a:solidFill>
                  <a:srgbClr val="2BD4BE"/>
                </a:solidFill>
                <a:latin typeface="Aptos"/>
              </a:defRPr>
            </a:pPr>
            <a:r>
              <a:t>Rule-based logic / AI-NLP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4059935"/>
            <a:ext cx="68580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F5F8FF"/>
                </a:solidFill>
                <a:latin typeface="Aptos"/>
              </a:defRPr>
            </a:pPr>
            <a:r>
              <a:t>Detect and explain suspicious patterns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681728"/>
            <a:ext cx="10607040" cy="566928"/>
          </a:xfrm>
          <a:prstGeom prst="roundRect">
            <a:avLst/>
          </a:prstGeom>
          <a:solidFill>
            <a:srgbClr val="192640"/>
          </a:solidFill>
          <a:ln>
            <a:solidFill>
              <a:srgbClr val="2D4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773168"/>
            <a:ext cx="29260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1">
                <a:solidFill>
                  <a:srgbClr val="2BD4BE"/>
                </a:solidFill>
                <a:latin typeface="Aptos"/>
              </a:defRPr>
            </a:pPr>
            <a:r>
              <a:t>MongoDB (optional)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4773168"/>
            <a:ext cx="68580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F5F8FF"/>
                </a:solidFill>
                <a:latin typeface="Aptos"/>
              </a:defRPr>
            </a:pPr>
            <a:r>
              <a:t>Store scan history only with user consent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3000" b="1">
                <a:solidFill>
                  <a:srgbClr val="F5F8FF"/>
                </a:solidFill>
                <a:latin typeface="Aptos"/>
              </a:defRPr>
            </a:pPr>
            <a:r>
              <a:t>Sample Analysis Result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69848"/>
            <a:ext cx="1051560" cy="50292"/>
          </a:xfrm>
          <a:prstGeom prst="rect">
            <a:avLst/>
          </a:prstGeom>
          <a:solidFill>
            <a:srgbClr val="2BD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69848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300" b="0">
                <a:solidFill>
                  <a:srgbClr val="B4C1D6"/>
                </a:solidFill>
                <a:latin typeface="Aptos"/>
              </a:defRPr>
            </a:pPr>
            <a:r>
              <a:t>Illustrative output for a message that asks for an OTP.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00" b="0">
                <a:solidFill>
                  <a:srgbClr val="B4C1D6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10241280" cy="3474720"/>
          </a:xfrm>
          <a:prstGeom prst="roundRect">
            <a:avLst/>
          </a:prstGeom>
          <a:solidFill>
            <a:srgbClr val="192640"/>
          </a:solidFill>
          <a:ln>
            <a:solidFill>
              <a:srgbClr val="2D4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1993392"/>
            <a:ext cx="9838944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FF6969"/>
                </a:solidFill>
                <a:latin typeface="Aptos"/>
              </a:defRPr>
            </a:pPr>
            <a:r>
              <a:t>HIGH RISK · POSSIBLE BANK SCAM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450592"/>
            <a:ext cx="9838944" cy="2724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400" b="0">
                <a:solidFill>
                  <a:srgbClr val="F5F8FF"/>
                </a:solidFill>
                <a:latin typeface="Aptos"/>
              </a:defRPr>
            </a:pPr>
            <a:r>
              <a:t>Message: “Your bank account will be blocked. Share your OTP immediately.”</a:t>
            </a:r>
            <a:br/>
            <a:br/>
            <a:r>
              <a:t>Warning signs detected:</a:t>
            </a:r>
            <a:br/>
            <a:r>
              <a:t>• Urgent threat about account access</a:t>
            </a:r>
            <a:br/>
            <a:r>
              <a:t>• Request for a one-time password (OTP)</a:t>
            </a:r>
            <a:br/>
            <a:r>
              <a:t>• Possible impersonation of a bank</a:t>
            </a:r>
            <a:br/>
            <a:br/>
            <a:r>
              <a:t>Safety tip: Never share your OTP with callers. Contact your bank using its official app or published phone number.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623560"/>
            <a:ext cx="102412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300" b="0">
                <a:solidFill>
                  <a:srgbClr val="B4C1D6"/>
                </a:solidFill>
                <a:latin typeface="Aptos"/>
              </a:defRPr>
            </a:pPr>
            <a:r>
              <a:t>This is an example result; the application must implement and test the detection logic.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3000" b="1">
                <a:solidFill>
                  <a:srgbClr val="F5F8FF"/>
                </a:solidFill>
                <a:latin typeface="Aptos"/>
              </a:defRPr>
            </a:pPr>
            <a:r>
              <a:t>Safety, Privacy, and Limitations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69848"/>
            <a:ext cx="1051560" cy="50292"/>
          </a:xfrm>
          <a:prstGeom prst="rect">
            <a:avLst/>
          </a:prstGeom>
          <a:solidFill>
            <a:srgbClr val="2BD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69848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300" b="0">
                <a:solidFill>
                  <a:srgbClr val="B4C1D6"/>
                </a:solidFill>
                <a:latin typeface="Aptos"/>
              </a:defRPr>
            </a:pPr>
            <a:r>
              <a:t>ProofLens should support decisions—not replace verification.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00" b="0">
                <a:solidFill>
                  <a:srgbClr val="B4C1D6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700"/>
              </a:spcAft>
              <a:defRPr sz="1900">
                <a:solidFill>
                  <a:srgbClr val="F5F8FF"/>
                </a:solidFill>
                <a:latin typeface="Aptos"/>
              </a:defRPr>
            </a:pPr>
            <a:r>
              <a:t>A message alone cannot prove that something is definitely safe or fraudulent.</a:t>
            </a:r>
          </a:p>
          <a:p>
            <a:pPr>
              <a:spcAft>
                <a:spcPts val="1700"/>
              </a:spcAft>
              <a:defRPr sz="1900">
                <a:solidFill>
                  <a:srgbClr val="F5F8FF"/>
                </a:solidFill>
                <a:latin typeface="Aptos"/>
              </a:defRPr>
            </a:pPr>
            <a:r>
              <a:t>Use labels such as “Potential Scam,” “Suspicious,” or “No obvious indicators found.”</a:t>
            </a:r>
          </a:p>
          <a:p>
            <a:pPr>
              <a:spcAft>
                <a:spcPts val="1700"/>
              </a:spcAft>
              <a:defRPr sz="1900">
                <a:solidFill>
                  <a:srgbClr val="F5F8FF"/>
                </a:solidFill>
                <a:latin typeface="Aptos"/>
              </a:defRPr>
            </a:pPr>
            <a:r>
              <a:t>Do not ask users to enter real OTPs, passwords, PINs, or full banking details.</a:t>
            </a:r>
          </a:p>
          <a:p>
            <a:pPr>
              <a:spcAft>
                <a:spcPts val="1700"/>
              </a:spcAft>
              <a:defRPr sz="1900">
                <a:solidFill>
                  <a:srgbClr val="F5F8FF"/>
                </a:solidFill>
                <a:latin typeface="Aptos"/>
              </a:defRPr>
            </a:pPr>
            <a:r>
              <a:t>Avoid saving submitted messages by default; ask consent before storing scan history.</a:t>
            </a:r>
          </a:p>
          <a:p>
            <a:pPr>
              <a:spcAft>
                <a:spcPts val="1700"/>
              </a:spcAft>
              <a:defRPr sz="1900">
                <a:solidFill>
                  <a:srgbClr val="F5F8FF"/>
                </a:solidFill>
                <a:latin typeface="Aptos"/>
              </a:defRPr>
            </a:pPr>
            <a:r>
              <a:t>Verify banks, employers, and links using official channels.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3000" b="1">
                <a:solidFill>
                  <a:srgbClr val="F5F8FF"/>
                </a:solidFill>
                <a:latin typeface="Aptos"/>
              </a:defRPr>
            </a:pPr>
            <a:r>
              <a:t>Future Enhancements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69848"/>
            <a:ext cx="1051560" cy="50292"/>
          </a:xfrm>
          <a:prstGeom prst="rect">
            <a:avLst/>
          </a:prstGeom>
          <a:solidFill>
            <a:srgbClr val="2BD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69848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300" b="0">
                <a:solidFill>
                  <a:srgbClr val="B4C1D6"/>
                </a:solidFill>
                <a:latin typeface="Aptos"/>
              </a:defRPr>
            </a:pPr>
            <a:r>
              <a:t>Features that can be explored after the core prototype works.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00" b="0">
                <a:solidFill>
                  <a:srgbClr val="B4C1D6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700"/>
              </a:spcAft>
              <a:defRPr sz="2000">
                <a:solidFill>
                  <a:srgbClr val="F5F8FF"/>
                </a:solidFill>
                <a:latin typeface="Aptos"/>
              </a:defRPr>
            </a:pPr>
            <a:r>
              <a:t>Speech-to-text analysis for user-provided call recordings, where lawful and consented.</a:t>
            </a:r>
          </a:p>
          <a:p>
            <a:pPr>
              <a:spcAft>
                <a:spcPts val="1700"/>
              </a:spcAft>
              <a:defRPr sz="2000">
                <a:solidFill>
                  <a:srgbClr val="F5F8FF"/>
                </a:solidFill>
                <a:latin typeface="Aptos"/>
              </a:defRPr>
            </a:pPr>
            <a:r>
              <a:t>Improved multilingual explanations in Tamil and English.</a:t>
            </a:r>
          </a:p>
          <a:p>
            <a:pPr>
              <a:spcAft>
                <a:spcPts val="1700"/>
              </a:spcAft>
              <a:defRPr sz="2000">
                <a:solidFill>
                  <a:srgbClr val="F5F8FF"/>
                </a:solidFill>
                <a:latin typeface="Aptos"/>
              </a:defRPr>
            </a:pPr>
            <a:r>
              <a:t>URL reputation checks through trusted security services.</a:t>
            </a:r>
          </a:p>
          <a:p>
            <a:pPr>
              <a:spcAft>
                <a:spcPts val="1700"/>
              </a:spcAft>
              <a:defRPr sz="2000">
                <a:solidFill>
                  <a:srgbClr val="F5F8FF"/>
                </a:solidFill>
                <a:latin typeface="Aptos"/>
              </a:defRPr>
            </a:pPr>
            <a:r>
              <a:t>Optional scan history with privacy controls.</a:t>
            </a:r>
          </a:p>
          <a:p>
            <a:pPr>
              <a:spcAft>
                <a:spcPts val="1700"/>
              </a:spcAft>
              <a:defRPr sz="2000">
                <a:solidFill>
                  <a:srgbClr val="F5F8FF"/>
                </a:solidFill>
                <a:latin typeface="Aptos"/>
              </a:defRPr>
            </a:pPr>
            <a:r>
              <a:t>More robust AI classification and evaluation using labeled test examples.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3000" b="1">
                <a:solidFill>
                  <a:srgbClr val="F5F8FF"/>
                </a:solidFill>
                <a:latin typeface="Aptos"/>
              </a:defRPr>
            </a:pPr>
            <a:r>
              <a:t>Hackathon Demo 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69848"/>
            <a:ext cx="1051560" cy="50292"/>
          </a:xfrm>
          <a:prstGeom prst="rect">
            <a:avLst/>
          </a:prstGeom>
          <a:solidFill>
            <a:srgbClr val="2BD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69848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300" b="0">
                <a:solidFill>
                  <a:srgbClr val="B4C1D6"/>
                </a:solidFill>
                <a:latin typeface="Aptos"/>
              </a:defRPr>
            </a:pPr>
            <a:r>
              <a:t>A short, repeatable demonstration of the prototype.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00" b="0">
                <a:solidFill>
                  <a:srgbClr val="B4C1D6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700"/>
              </a:spcAft>
              <a:defRPr sz="2000">
                <a:solidFill>
                  <a:srgbClr val="F5F8FF"/>
                </a:solidFill>
                <a:latin typeface="Aptos"/>
              </a:defRPr>
            </a:pPr>
            <a:r>
              <a:t>Open the ProofLens home page and explain the problem in 20 seconds.</a:t>
            </a:r>
          </a:p>
          <a:p>
            <a:pPr>
              <a:spcAft>
                <a:spcPts val="1700"/>
              </a:spcAft>
              <a:defRPr sz="2000">
                <a:solidFill>
                  <a:srgbClr val="F5F8FF"/>
                </a:solidFill>
                <a:latin typeface="Aptos"/>
              </a:defRPr>
            </a:pPr>
            <a:r>
              <a:t>Test an OTP-request message and show the risk explanation.</a:t>
            </a:r>
          </a:p>
          <a:p>
            <a:pPr>
              <a:spcAft>
                <a:spcPts val="1700"/>
              </a:spcAft>
              <a:defRPr sz="2000">
                <a:solidFill>
                  <a:srgbClr val="F5F8FF"/>
                </a:solidFill>
                <a:latin typeface="Aptos"/>
              </a:defRPr>
            </a:pPr>
            <a:r>
              <a:t>Test a fake prize-link message and highlight its warning signs.</a:t>
            </a:r>
          </a:p>
          <a:p>
            <a:pPr>
              <a:spcAft>
                <a:spcPts val="1700"/>
              </a:spcAft>
              <a:defRPr sz="2000">
                <a:solidFill>
                  <a:srgbClr val="F5F8FF"/>
                </a:solidFill>
                <a:latin typeface="Aptos"/>
              </a:defRPr>
            </a:pPr>
            <a:r>
              <a:t>Test a job offer asking for an upfront fee.</a:t>
            </a:r>
          </a:p>
          <a:p>
            <a:pPr>
              <a:spcAft>
                <a:spcPts val="1700"/>
              </a:spcAft>
              <a:defRPr sz="2000">
                <a:solidFill>
                  <a:srgbClr val="F5F8FF"/>
                </a:solidFill>
                <a:latin typeface="Aptos"/>
              </a:defRPr>
            </a:pPr>
            <a:r>
              <a:t>Finish by explaining limitations and the next development step.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715000"/>
            <a:ext cx="105156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400" b="1">
                <a:solidFill>
                  <a:srgbClr val="FFC759"/>
                </a:solidFill>
                <a:latin typeface="Aptos"/>
              </a:defRPr>
            </a:pPr>
            <a:r>
              <a:t>Demo only with fictional examples—never use real personal or banking data.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914400"/>
            <a:ext cx="105156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1">
                <a:solidFill>
                  <a:srgbClr val="2BD4BE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9875520" cy="10972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3400" b="1">
                <a:solidFill>
                  <a:srgbClr val="F5F8FF"/>
                </a:solidFill>
                <a:latin typeface="Aptos"/>
              </a:defRPr>
            </a:pPr>
            <a:r>
              <a:t>ProofLens makes scam warning signs easier to understand.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971800"/>
            <a:ext cx="960120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100" b="0">
                <a:solidFill>
                  <a:srgbClr val="B4C1D6"/>
                </a:solidFill>
                <a:latin typeface="Aptos"/>
              </a:defRPr>
            </a:pPr>
            <a:r>
              <a:t>By combining a simple interface, transparent detection logic, and clear safety advice, it can help users pause, check, and verify before acting.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166360"/>
            <a:ext cx="7315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3000" b="1">
                <a:solidFill>
                  <a:srgbClr val="2BD4BE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943600"/>
            <a:ext cx="86868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0">
                <a:solidFill>
                  <a:srgbClr val="B4C1D6"/>
                </a:solidFill>
                <a:latin typeface="Aptos"/>
              </a:defRPr>
            </a:pPr>
            <a:r>
              <a:t>ProofLens · AI Scam Checker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